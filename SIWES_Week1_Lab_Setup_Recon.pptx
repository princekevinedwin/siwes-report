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4489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301752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84048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66344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548640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630936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54864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12" name="Shape 10"/>
          <p:cNvSpPr/>
          <p:nvPr/>
        </p:nvSpPr>
        <p:spPr>
          <a:xfrm>
            <a:off x="1371600" y="137160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13" name="Shape 11"/>
          <p:cNvSpPr/>
          <p:nvPr/>
        </p:nvSpPr>
        <p:spPr>
          <a:xfrm>
            <a:off x="1371600" y="219456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14" name="Shape 12"/>
          <p:cNvSpPr/>
          <p:nvPr/>
        </p:nvSpPr>
        <p:spPr>
          <a:xfrm>
            <a:off x="1371600" y="301752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384048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16" name="Shape 14"/>
          <p:cNvSpPr/>
          <p:nvPr/>
        </p:nvSpPr>
        <p:spPr>
          <a:xfrm>
            <a:off x="1371600" y="466344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548640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18" name="Shape 16"/>
          <p:cNvSpPr/>
          <p:nvPr/>
        </p:nvSpPr>
        <p:spPr>
          <a:xfrm>
            <a:off x="1371600" y="630936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19" name="Shape 17"/>
          <p:cNvSpPr/>
          <p:nvPr/>
        </p:nvSpPr>
        <p:spPr>
          <a:xfrm>
            <a:off x="2194560" y="54864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4560" y="137160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4560" y="219456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22" name="Shape 20"/>
          <p:cNvSpPr/>
          <p:nvPr/>
        </p:nvSpPr>
        <p:spPr>
          <a:xfrm>
            <a:off x="2194560" y="301752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23" name="Shape 21"/>
          <p:cNvSpPr/>
          <p:nvPr/>
        </p:nvSpPr>
        <p:spPr>
          <a:xfrm>
            <a:off x="2194560" y="384048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24" name="Shape 22"/>
          <p:cNvSpPr/>
          <p:nvPr/>
        </p:nvSpPr>
        <p:spPr>
          <a:xfrm>
            <a:off x="2194560" y="466344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25" name="Shape 23"/>
          <p:cNvSpPr/>
          <p:nvPr/>
        </p:nvSpPr>
        <p:spPr>
          <a:xfrm>
            <a:off x="2194560" y="548640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26" name="Shape 24"/>
          <p:cNvSpPr/>
          <p:nvPr/>
        </p:nvSpPr>
        <p:spPr>
          <a:xfrm>
            <a:off x="2194560" y="630936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27" name="Shape 25"/>
          <p:cNvSpPr/>
          <p:nvPr/>
        </p:nvSpPr>
        <p:spPr>
          <a:xfrm>
            <a:off x="3017520" y="54864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28" name="Shape 26"/>
          <p:cNvSpPr/>
          <p:nvPr/>
        </p:nvSpPr>
        <p:spPr>
          <a:xfrm>
            <a:off x="3017520" y="137160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29" name="Shape 27"/>
          <p:cNvSpPr/>
          <p:nvPr/>
        </p:nvSpPr>
        <p:spPr>
          <a:xfrm>
            <a:off x="3017520" y="219456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30" name="Shape 28"/>
          <p:cNvSpPr/>
          <p:nvPr/>
        </p:nvSpPr>
        <p:spPr>
          <a:xfrm>
            <a:off x="3017520" y="301752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31" name="Shape 29"/>
          <p:cNvSpPr/>
          <p:nvPr/>
        </p:nvSpPr>
        <p:spPr>
          <a:xfrm>
            <a:off x="3017520" y="384048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32" name="Shape 30"/>
          <p:cNvSpPr/>
          <p:nvPr/>
        </p:nvSpPr>
        <p:spPr>
          <a:xfrm>
            <a:off x="3017520" y="466344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33" name="Shape 31"/>
          <p:cNvSpPr/>
          <p:nvPr/>
        </p:nvSpPr>
        <p:spPr>
          <a:xfrm>
            <a:off x="3017520" y="548640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34" name="Shape 32"/>
          <p:cNvSpPr/>
          <p:nvPr/>
        </p:nvSpPr>
        <p:spPr>
          <a:xfrm>
            <a:off x="3017520" y="630936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35" name="Shape 33"/>
          <p:cNvSpPr/>
          <p:nvPr/>
        </p:nvSpPr>
        <p:spPr>
          <a:xfrm>
            <a:off x="3840480" y="54864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36" name="Shape 34"/>
          <p:cNvSpPr/>
          <p:nvPr/>
        </p:nvSpPr>
        <p:spPr>
          <a:xfrm>
            <a:off x="3840480" y="137160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37" name="Shape 35"/>
          <p:cNvSpPr/>
          <p:nvPr/>
        </p:nvSpPr>
        <p:spPr>
          <a:xfrm>
            <a:off x="3840480" y="219456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38" name="Shape 36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39" name="Shape 37"/>
          <p:cNvSpPr/>
          <p:nvPr/>
        </p:nvSpPr>
        <p:spPr>
          <a:xfrm>
            <a:off x="3840480" y="384048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40" name="Shape 38"/>
          <p:cNvSpPr/>
          <p:nvPr/>
        </p:nvSpPr>
        <p:spPr>
          <a:xfrm>
            <a:off x="3840480" y="466344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41" name="Shape 39"/>
          <p:cNvSpPr/>
          <p:nvPr/>
        </p:nvSpPr>
        <p:spPr>
          <a:xfrm>
            <a:off x="3840480" y="548640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42" name="Shape 40"/>
          <p:cNvSpPr/>
          <p:nvPr/>
        </p:nvSpPr>
        <p:spPr>
          <a:xfrm>
            <a:off x="3840480" y="630936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43" name="Shape 41"/>
          <p:cNvSpPr/>
          <p:nvPr/>
        </p:nvSpPr>
        <p:spPr>
          <a:xfrm>
            <a:off x="4663440" y="54864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44" name="Shape 42"/>
          <p:cNvSpPr/>
          <p:nvPr/>
        </p:nvSpPr>
        <p:spPr>
          <a:xfrm>
            <a:off x="4663440" y="137160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45" name="Shape 43"/>
          <p:cNvSpPr/>
          <p:nvPr/>
        </p:nvSpPr>
        <p:spPr>
          <a:xfrm>
            <a:off x="4663440" y="219456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46" name="Shape 44"/>
          <p:cNvSpPr/>
          <p:nvPr/>
        </p:nvSpPr>
        <p:spPr>
          <a:xfrm>
            <a:off x="4663440" y="301752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47" name="Shape 45"/>
          <p:cNvSpPr/>
          <p:nvPr/>
        </p:nvSpPr>
        <p:spPr>
          <a:xfrm>
            <a:off x="4663440" y="384048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48" name="Shape 46"/>
          <p:cNvSpPr/>
          <p:nvPr/>
        </p:nvSpPr>
        <p:spPr>
          <a:xfrm>
            <a:off x="4663440" y="466344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49" name="Shape 47"/>
          <p:cNvSpPr/>
          <p:nvPr/>
        </p:nvSpPr>
        <p:spPr>
          <a:xfrm>
            <a:off x="4663440" y="548640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50" name="Shape 48"/>
          <p:cNvSpPr/>
          <p:nvPr/>
        </p:nvSpPr>
        <p:spPr>
          <a:xfrm>
            <a:off x="4663440" y="630936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51" name="Shape 49"/>
          <p:cNvSpPr/>
          <p:nvPr/>
        </p:nvSpPr>
        <p:spPr>
          <a:xfrm>
            <a:off x="5486400" y="54864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52" name="Shape 50"/>
          <p:cNvSpPr/>
          <p:nvPr/>
        </p:nvSpPr>
        <p:spPr>
          <a:xfrm>
            <a:off x="5486400" y="137160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53" name="Shape 51"/>
          <p:cNvSpPr/>
          <p:nvPr/>
        </p:nvSpPr>
        <p:spPr>
          <a:xfrm>
            <a:off x="5486400" y="219456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54" name="Shape 52"/>
          <p:cNvSpPr/>
          <p:nvPr/>
        </p:nvSpPr>
        <p:spPr>
          <a:xfrm>
            <a:off x="5486400" y="301752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55" name="Shape 53"/>
          <p:cNvSpPr/>
          <p:nvPr/>
        </p:nvSpPr>
        <p:spPr>
          <a:xfrm>
            <a:off x="5486400" y="384048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56" name="Shape 54"/>
          <p:cNvSpPr/>
          <p:nvPr/>
        </p:nvSpPr>
        <p:spPr>
          <a:xfrm>
            <a:off x="5486400" y="466344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57" name="Shape 55"/>
          <p:cNvSpPr/>
          <p:nvPr/>
        </p:nvSpPr>
        <p:spPr>
          <a:xfrm>
            <a:off x="5486400" y="548640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58" name="Shape 56"/>
          <p:cNvSpPr/>
          <p:nvPr/>
        </p:nvSpPr>
        <p:spPr>
          <a:xfrm>
            <a:off x="5486400" y="630936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59" name="Shape 57"/>
          <p:cNvSpPr/>
          <p:nvPr/>
        </p:nvSpPr>
        <p:spPr>
          <a:xfrm>
            <a:off x="6309360" y="54864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60" name="Shape 58"/>
          <p:cNvSpPr/>
          <p:nvPr/>
        </p:nvSpPr>
        <p:spPr>
          <a:xfrm>
            <a:off x="6309360" y="137160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61" name="Shape 59"/>
          <p:cNvSpPr/>
          <p:nvPr/>
        </p:nvSpPr>
        <p:spPr>
          <a:xfrm>
            <a:off x="6309360" y="219456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62" name="Shape 60"/>
          <p:cNvSpPr/>
          <p:nvPr/>
        </p:nvSpPr>
        <p:spPr>
          <a:xfrm>
            <a:off x="6309360" y="301752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63" name="Shape 61"/>
          <p:cNvSpPr/>
          <p:nvPr/>
        </p:nvSpPr>
        <p:spPr>
          <a:xfrm>
            <a:off x="6309360" y="384048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64" name="Shape 62"/>
          <p:cNvSpPr/>
          <p:nvPr/>
        </p:nvSpPr>
        <p:spPr>
          <a:xfrm>
            <a:off x="6309360" y="466344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65" name="Shape 63"/>
          <p:cNvSpPr/>
          <p:nvPr/>
        </p:nvSpPr>
        <p:spPr>
          <a:xfrm>
            <a:off x="6309360" y="548640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66" name="Shape 64"/>
          <p:cNvSpPr/>
          <p:nvPr/>
        </p:nvSpPr>
        <p:spPr>
          <a:xfrm>
            <a:off x="6309360" y="630936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67" name="Shape 65"/>
          <p:cNvSpPr/>
          <p:nvPr/>
        </p:nvSpPr>
        <p:spPr>
          <a:xfrm>
            <a:off x="7132320" y="54864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68" name="Shape 66"/>
          <p:cNvSpPr/>
          <p:nvPr/>
        </p:nvSpPr>
        <p:spPr>
          <a:xfrm>
            <a:off x="7132320" y="137160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69" name="Shape 67"/>
          <p:cNvSpPr/>
          <p:nvPr/>
        </p:nvSpPr>
        <p:spPr>
          <a:xfrm>
            <a:off x="7132320" y="219456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70" name="Shape 68"/>
          <p:cNvSpPr/>
          <p:nvPr/>
        </p:nvSpPr>
        <p:spPr>
          <a:xfrm>
            <a:off x="7132320" y="301752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71" name="Shape 69"/>
          <p:cNvSpPr/>
          <p:nvPr/>
        </p:nvSpPr>
        <p:spPr>
          <a:xfrm>
            <a:off x="7132320" y="384048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72" name="Shape 70"/>
          <p:cNvSpPr/>
          <p:nvPr/>
        </p:nvSpPr>
        <p:spPr>
          <a:xfrm>
            <a:off x="7132320" y="466344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73" name="Shape 71"/>
          <p:cNvSpPr/>
          <p:nvPr/>
        </p:nvSpPr>
        <p:spPr>
          <a:xfrm>
            <a:off x="7132320" y="548640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74" name="Shape 72"/>
          <p:cNvSpPr/>
          <p:nvPr/>
        </p:nvSpPr>
        <p:spPr>
          <a:xfrm>
            <a:off x="7132320" y="630936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75" name="Shape 73"/>
          <p:cNvSpPr/>
          <p:nvPr/>
        </p:nvSpPr>
        <p:spPr>
          <a:xfrm>
            <a:off x="7955280" y="54864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76" name="Shape 74"/>
          <p:cNvSpPr/>
          <p:nvPr/>
        </p:nvSpPr>
        <p:spPr>
          <a:xfrm>
            <a:off x="7955280" y="137160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77" name="Shape 75"/>
          <p:cNvSpPr/>
          <p:nvPr/>
        </p:nvSpPr>
        <p:spPr>
          <a:xfrm>
            <a:off x="7955280" y="219456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78" name="Shape 76"/>
          <p:cNvSpPr/>
          <p:nvPr/>
        </p:nvSpPr>
        <p:spPr>
          <a:xfrm>
            <a:off x="7955280" y="301752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79" name="Shape 77"/>
          <p:cNvSpPr/>
          <p:nvPr/>
        </p:nvSpPr>
        <p:spPr>
          <a:xfrm>
            <a:off x="7955280" y="384048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80" name="Shape 78"/>
          <p:cNvSpPr/>
          <p:nvPr/>
        </p:nvSpPr>
        <p:spPr>
          <a:xfrm>
            <a:off x="7955280" y="466344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81" name="Shape 79"/>
          <p:cNvSpPr/>
          <p:nvPr/>
        </p:nvSpPr>
        <p:spPr>
          <a:xfrm>
            <a:off x="7955280" y="548640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82" name="Shape 80"/>
          <p:cNvSpPr/>
          <p:nvPr/>
        </p:nvSpPr>
        <p:spPr>
          <a:xfrm>
            <a:off x="7955280" y="630936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83" name="Shape 81"/>
          <p:cNvSpPr/>
          <p:nvPr/>
        </p:nvSpPr>
        <p:spPr>
          <a:xfrm>
            <a:off x="8778240" y="54864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84" name="Shape 82"/>
          <p:cNvSpPr/>
          <p:nvPr/>
        </p:nvSpPr>
        <p:spPr>
          <a:xfrm>
            <a:off x="8778240" y="137160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85" name="Shape 83"/>
          <p:cNvSpPr/>
          <p:nvPr/>
        </p:nvSpPr>
        <p:spPr>
          <a:xfrm>
            <a:off x="8778240" y="219456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86" name="Shape 84"/>
          <p:cNvSpPr/>
          <p:nvPr/>
        </p:nvSpPr>
        <p:spPr>
          <a:xfrm>
            <a:off x="8778240" y="301752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87" name="Shape 85"/>
          <p:cNvSpPr/>
          <p:nvPr/>
        </p:nvSpPr>
        <p:spPr>
          <a:xfrm>
            <a:off x="8778240" y="384048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88" name="Shape 86"/>
          <p:cNvSpPr/>
          <p:nvPr/>
        </p:nvSpPr>
        <p:spPr>
          <a:xfrm>
            <a:off x="8778240" y="466344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89" name="Shape 87"/>
          <p:cNvSpPr/>
          <p:nvPr/>
        </p:nvSpPr>
        <p:spPr>
          <a:xfrm>
            <a:off x="8778240" y="548640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90" name="Shape 88"/>
          <p:cNvSpPr/>
          <p:nvPr/>
        </p:nvSpPr>
        <p:spPr>
          <a:xfrm>
            <a:off x="8778240" y="630936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91" name="Shape 89"/>
          <p:cNvSpPr/>
          <p:nvPr/>
        </p:nvSpPr>
        <p:spPr>
          <a:xfrm>
            <a:off x="9601200" y="54864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92" name="Shape 90"/>
          <p:cNvSpPr/>
          <p:nvPr/>
        </p:nvSpPr>
        <p:spPr>
          <a:xfrm>
            <a:off x="9601200" y="137160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93" name="Shape 91"/>
          <p:cNvSpPr/>
          <p:nvPr/>
        </p:nvSpPr>
        <p:spPr>
          <a:xfrm>
            <a:off x="9601200" y="219456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94" name="Shape 92"/>
          <p:cNvSpPr/>
          <p:nvPr/>
        </p:nvSpPr>
        <p:spPr>
          <a:xfrm>
            <a:off x="9601200" y="301752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95" name="Shape 93"/>
          <p:cNvSpPr/>
          <p:nvPr/>
        </p:nvSpPr>
        <p:spPr>
          <a:xfrm>
            <a:off x="9601200" y="384048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96" name="Shape 94"/>
          <p:cNvSpPr/>
          <p:nvPr/>
        </p:nvSpPr>
        <p:spPr>
          <a:xfrm>
            <a:off x="9601200" y="466344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97" name="Shape 95"/>
          <p:cNvSpPr/>
          <p:nvPr/>
        </p:nvSpPr>
        <p:spPr>
          <a:xfrm>
            <a:off x="9601200" y="548640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98" name="Shape 96"/>
          <p:cNvSpPr/>
          <p:nvPr/>
        </p:nvSpPr>
        <p:spPr>
          <a:xfrm>
            <a:off x="9601200" y="630936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99" name="Shape 97"/>
          <p:cNvSpPr/>
          <p:nvPr/>
        </p:nvSpPr>
        <p:spPr>
          <a:xfrm>
            <a:off x="10424160" y="54864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424160" y="137160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101" name="Shape 99"/>
          <p:cNvSpPr/>
          <p:nvPr/>
        </p:nvSpPr>
        <p:spPr>
          <a:xfrm>
            <a:off x="10424160" y="219456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0424160" y="301752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424160" y="384048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424160" y="466344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424160" y="548640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0424160" y="630936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1247120" y="54864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1247120" y="137160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1247120" y="219456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1247120" y="301752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1247120" y="384048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1247120" y="466344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1247120" y="548640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1247120" y="6309360"/>
            <a:ext cx="27432" cy="27432"/>
          </a:xfrm>
          <a:prstGeom prst="ellipse">
            <a:avLst/>
          </a:prstGeom>
          <a:solidFill>
            <a:srgbClr val="1E2C48"/>
          </a:solidFill>
          <a:ln/>
        </p:spPr>
      </p:sp>
      <p:sp>
        <p:nvSpPr>
          <p:cNvPr id="115" name="Text 113"/>
          <p:cNvSpPr/>
          <p:nvPr/>
        </p:nvSpPr>
        <p:spPr>
          <a:xfrm>
            <a:off x="822960" y="1600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39D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</a:t>
            </a:r>
            <a:endParaRPr lang="en-US" sz="1600" dirty="0"/>
          </a:p>
        </p:txBody>
      </p:sp>
      <p:sp>
        <p:nvSpPr>
          <p:cNvPr id="116" name="Text 114"/>
          <p:cNvSpPr/>
          <p:nvPr/>
        </p:nvSpPr>
        <p:spPr>
          <a:xfrm>
            <a:off x="822960" y="19659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Setup &amp; Network Reconnaissance</a:t>
            </a:r>
            <a:endParaRPr lang="en-US" sz="4000" dirty="0"/>
          </a:p>
        </p:txBody>
      </p:sp>
      <p:sp>
        <p:nvSpPr>
          <p:cNvPr id="117" name="Text 115"/>
          <p:cNvSpPr/>
          <p:nvPr/>
        </p:nvSpPr>
        <p:spPr>
          <a:xfrm>
            <a:off x="822960" y="2880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A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Security Monitoring &amp; Vulnerability Assessment Lab — Month 1</a:t>
            </a:r>
            <a:endParaRPr lang="en-US" sz="1600" dirty="0"/>
          </a:p>
        </p:txBody>
      </p:sp>
      <p:sp>
        <p:nvSpPr>
          <p:cNvPr id="118" name="Shape 116"/>
          <p:cNvSpPr/>
          <p:nvPr/>
        </p:nvSpPr>
        <p:spPr>
          <a:xfrm>
            <a:off x="822960" y="420624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121B2E"/>
          </a:solidFill>
          <a:ln/>
        </p:spPr>
      </p:sp>
      <p:sp>
        <p:nvSpPr>
          <p:cNvPr id="119" name="Text 117"/>
          <p:cNvSpPr/>
          <p:nvPr/>
        </p:nvSpPr>
        <p:spPr>
          <a:xfrm>
            <a:off x="1051560" y="431596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D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400" dirty="0"/>
          </a:p>
        </p:txBody>
      </p:sp>
      <p:sp>
        <p:nvSpPr>
          <p:cNvPr id="120" name="Text 118"/>
          <p:cNvSpPr/>
          <p:nvPr/>
        </p:nvSpPr>
        <p:spPr>
          <a:xfrm>
            <a:off x="1051560" y="4846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Hosts Discovered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4251960" y="420624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121B2E"/>
          </a:solidFill>
          <a:ln/>
        </p:spPr>
      </p:sp>
      <p:sp>
        <p:nvSpPr>
          <p:cNvPr id="122" name="Text 120"/>
          <p:cNvSpPr/>
          <p:nvPr/>
        </p:nvSpPr>
        <p:spPr>
          <a:xfrm>
            <a:off x="4480560" y="431596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D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2400" dirty="0"/>
          </a:p>
        </p:txBody>
      </p:sp>
      <p:sp>
        <p:nvSpPr>
          <p:cNvPr id="123" name="Text 121"/>
          <p:cNvSpPr/>
          <p:nvPr/>
        </p:nvSpPr>
        <p:spPr>
          <a:xfrm>
            <a:off x="4480560" y="4846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Ports (Target)</a:t>
            </a:r>
            <a:endParaRPr lang="en-US" sz="1200" dirty="0"/>
          </a:p>
        </p:txBody>
      </p:sp>
      <p:sp>
        <p:nvSpPr>
          <p:cNvPr id="124" name="Shape 122"/>
          <p:cNvSpPr/>
          <p:nvPr/>
        </p:nvSpPr>
        <p:spPr>
          <a:xfrm>
            <a:off x="7680960" y="420624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121B2E"/>
          </a:solidFill>
          <a:ln/>
        </p:spPr>
      </p:sp>
      <p:sp>
        <p:nvSpPr>
          <p:cNvPr id="125" name="Text 123"/>
          <p:cNvSpPr/>
          <p:nvPr/>
        </p:nvSpPr>
        <p:spPr>
          <a:xfrm>
            <a:off x="7909560" y="431596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D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192.168.56.0/24</a:t>
            </a:r>
            <a:endParaRPr lang="en-US" sz="2400" dirty="0"/>
          </a:p>
        </p:txBody>
      </p:sp>
      <p:sp>
        <p:nvSpPr>
          <p:cNvPr id="126" name="Text 124"/>
          <p:cNvSpPr/>
          <p:nvPr/>
        </p:nvSpPr>
        <p:spPr>
          <a:xfrm>
            <a:off x="7909560" y="4846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Lab Subnet</a:t>
            </a:r>
            <a:endParaRPr lang="en-US" sz="1200" dirty="0"/>
          </a:p>
        </p:txBody>
      </p:sp>
      <p:sp>
        <p:nvSpPr>
          <p:cNvPr id="127" name="Text 125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4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 by Kevin  •  KEDESH EDITS  •  Cybersecurity SIWES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F1FB"/>
                </a:solidFill>
              </a:rPr>
              <a:t>Goal &amp; Toolset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3A4C3"/>
                </a:solidFill>
              </a:rPr>
              <a:t>Build the lab environment and map the network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121B2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an isolated virtual lab consisting of an attacker machine (Kali Linux) and a deliberately vulnerable target (Metasploitable2), confirm connectivity, then perform host discovery and service enumeration entirely inside a network that never touches the real internet.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3822192"/>
            <a:ext cx="146304" cy="146304"/>
          </a:xfrm>
          <a:prstGeom prst="ellipse">
            <a:avLst/>
          </a:prstGeom>
          <a:solidFill>
            <a:srgbClr val="39D6C6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37216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&amp; configure virtualization software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4224528"/>
            <a:ext cx="146304" cy="146304"/>
          </a:xfrm>
          <a:prstGeom prst="ellipse">
            <a:avLst/>
          </a:prstGeom>
          <a:solidFill>
            <a:srgbClr val="39D6C6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412394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Kali Linux and Metasploitable2 VMs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4626864"/>
            <a:ext cx="146304" cy="146304"/>
          </a:xfrm>
          <a:prstGeom prst="ellipse">
            <a:avLst/>
          </a:prstGeom>
          <a:solidFill>
            <a:srgbClr val="39D6C6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45262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lab traffic on a Host-Only network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5029200"/>
            <a:ext cx="146304" cy="146304"/>
          </a:xfrm>
          <a:prstGeom prst="ellipse">
            <a:avLst/>
          </a:prstGeom>
          <a:solidFill>
            <a:srgbClr val="39D6C6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92861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and verify static IP addressing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5431536"/>
            <a:ext cx="146304" cy="146304"/>
          </a:xfrm>
          <a:prstGeom prst="ellipse">
            <a:avLst/>
          </a:prstGeom>
          <a:solidFill>
            <a:srgbClr val="39D6C6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533095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host discovery and service/version scans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121B2E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USED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2240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VirtualBox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256946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Hypervisor hosting all lab VMs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83680" y="3108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 Linux 2025.1c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343814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machine — scanning &amp; recon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83680" y="3977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Metasploitable2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430682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vulnerable target VM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83680" y="48463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Nmap 7.95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0" y="517550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discovery + service/version scanning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KEDESH EDITS  |  SIWES Cybersecurity Attachment  •  Month 1, Week 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326880" y="65288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F1FB"/>
                </a:solidFill>
              </a:rPr>
              <a:t>Network Topology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3A4C3"/>
                </a:solidFill>
              </a:rPr>
              <a:t>Isolated Host-Only lab network — 192.168.56.0/24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709160"/>
          </a:xfrm>
          <a:prstGeom prst="roundRect">
            <a:avLst>
              <a:gd name="adj" fmla="val 2330"/>
            </a:avLst>
          </a:prstGeom>
          <a:solidFill>
            <a:srgbClr val="0F1830"/>
          </a:solidFill>
          <a:ln w="19050">
            <a:solidFill>
              <a:srgbClr val="24345A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22960" y="1572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93A4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HOST-ONLY NETWORK  ·  192.168.56.0/24  ·  NO INTERNET ACCESS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463040" y="4160520"/>
            <a:ext cx="9235440" cy="0"/>
          </a:xfrm>
          <a:prstGeom prst="line">
            <a:avLst/>
          </a:prstGeom>
          <a:noFill/>
          <a:ln w="25400">
            <a:solidFill>
              <a:srgbClr val="39D6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28600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1A2740"/>
          </a:solidFill>
          <a:ln w="19050">
            <a:solidFill>
              <a:srgbClr val="7C8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395728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Machine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70432" y="2697480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PHYSICAL LAPTOP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70432" y="2999232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9D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192.168.56.1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310128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VirtualBox Host-Only gateway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77440" y="3703320"/>
            <a:ext cx="0" cy="457200"/>
          </a:xfrm>
          <a:prstGeom prst="line">
            <a:avLst/>
          </a:prstGeom>
          <a:noFill/>
          <a:ln w="19050">
            <a:solidFill>
              <a:srgbClr val="7C8C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31720" y="4114800"/>
            <a:ext cx="91440" cy="91440"/>
          </a:xfrm>
          <a:prstGeom prst="ellipse">
            <a:avLst/>
          </a:prstGeom>
          <a:solidFill>
            <a:srgbClr val="7C8C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206240" y="228600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1A2740"/>
          </a:solidFill>
          <a:ln w="19050">
            <a:solidFill>
              <a:srgbClr val="39D6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0832" y="2395728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 Linux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70832" y="2697480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9D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70832" y="2999232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9D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192.168.56.10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3310128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Nmap, Metasploit, Wireshark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77840" y="3703320"/>
            <a:ext cx="0" cy="457200"/>
          </a:xfrm>
          <a:prstGeom prst="line">
            <a:avLst/>
          </a:prstGeom>
          <a:noFill/>
          <a:ln w="19050">
            <a:solidFill>
              <a:srgbClr val="39D6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32120" y="4114800"/>
            <a:ext cx="91440" cy="91440"/>
          </a:xfrm>
          <a:prstGeom prst="ellipse">
            <a:avLst/>
          </a:prstGeom>
          <a:solidFill>
            <a:srgbClr val="39D6C6"/>
          </a:solidFill>
          <a:ln/>
        </p:spPr>
      </p:sp>
      <p:sp>
        <p:nvSpPr>
          <p:cNvPr id="21" name="Shape 19"/>
          <p:cNvSpPr/>
          <p:nvPr/>
        </p:nvSpPr>
        <p:spPr>
          <a:xfrm>
            <a:off x="7406640" y="228600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1A2740"/>
          </a:solidFill>
          <a:ln w="19050">
            <a:solidFill>
              <a:srgbClr val="F255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71232" y="2395728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Metasploitable2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71232" y="2697480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5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(VULNERABLE)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71232" y="2999232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9D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192.168.56.102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71232" y="3310128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open ports — see findings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778240" y="3703320"/>
            <a:ext cx="0" cy="457200"/>
          </a:xfrm>
          <a:prstGeom prst="line">
            <a:avLst/>
          </a:prstGeom>
          <a:noFill/>
          <a:ln w="19050">
            <a:solidFill>
              <a:srgbClr val="F255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32520" y="4114800"/>
            <a:ext cx="91440" cy="91440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28" name="Shape 26"/>
          <p:cNvSpPr/>
          <p:nvPr/>
        </p:nvSpPr>
        <p:spPr>
          <a:xfrm>
            <a:off x="1005840" y="4572000"/>
            <a:ext cx="9144000" cy="1325880"/>
          </a:xfrm>
          <a:prstGeom prst="roundRect">
            <a:avLst>
              <a:gd name="adj" fmla="val 5517"/>
            </a:avLst>
          </a:prstGeom>
          <a:solidFill>
            <a:srgbClr val="1C142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3444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 — IP NOTE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34440" y="498348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Metasploitable2 was originally configured with a static address (192.168.56.20) in /etc/network/interfaces, but the change did not persist through a reboot and the VM fell back to DHCP, leasing 192.168.56.102. All Week 1 scans below target the active DHCP address, 192.168.56.102. This is flagged for correction in a later session so the static assignment holds permanently.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KEDESH EDITS  |  SIWES Cybersecurity Attachment  •  Month 1, Week 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326880" y="65288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F1FB"/>
                </a:solidFill>
              </a:rPr>
              <a:t>Host Discovery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A4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-sn 192.168.56.0/24  —  4 hosts up, 256 addresses scanned in 15.46s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31089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IP Address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9D6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9D6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MAC Address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9D6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9D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3A4C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192.168.56.1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 machine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3A4C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0A:00:27:00:00:09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3A4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VirtualBox Host-Only gateway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3A4C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192.168.56.10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Kali Linux (attacker)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3A4C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08:00:27:12:9C:57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3A4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IP — confirmed stable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3A4C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192.168.56.100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Unaccounted host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3A4C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08:00:27:6F:C0:C1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3A4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Believed VirtualBox DHCP artifact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3A4C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192.168.56.102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Metasploitable2 (target)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3A4C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08:00:27:6F:C0:C1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3A4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DHCP-leased — see IP note, slide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21B2E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029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D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 NOTE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192.168.56.100 was not one of the machines intentionally provisioned this week. It most likely comes from VirtualBox's Host-Only DHCP service itself rather than a rogue device, but it should be verified before the topology diagram is finalized for submission — confirm no other VM was left running on this adapter.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KEDESH EDITS  |  SIWES Cybersecurity Attachment  •  Month 1, Week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326880" y="65288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F1FB"/>
                </a:solidFill>
              </a:rPr>
              <a:t>Service Scan — Findings (1/2)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A4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-sV -sC -Pn 192.168.56.102   |   977 closed, 22 open TCP ports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7548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Port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9D6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Service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9D6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Version / Detail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9D6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Risk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9D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AF1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AF1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3A4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vsftpd 2.3.4 — anonymous login allowed (FTP code 230)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255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AF1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AF1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3A4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OpenSSH 4.7p1 Debian 8ubuntu1 (protocol 2.0)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3A4C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AF1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AF1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telnet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3A4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Linux telnetd — unencrypted remote login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255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AF1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AF1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smtp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3A4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Postfix smtpd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Medium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AF1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AF1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3A4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ISC BIND 9.4.2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Medium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AF1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AF1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3A4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Apache httpd 2.2.8 (Ubuntu) DAV/2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Medium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AF1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AF1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rpcbind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3A4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RPC #100000 — exposes NFS/mount services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Medium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AF1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AF1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netbios-ssn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3A4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Samba smbd 3.X-4.X (workgroup: WORKGROUP)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Medium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AF1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445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AF1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netbios-ssn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3A4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Samba smbd 3.0.20-Debian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Medium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AF1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512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AF1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3A4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netkit-rsh rexecd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255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AF1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513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AF1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3A4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OpenBSD/Solaris rlogind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255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KEDESH EDITS  |  SIWES Cybersecurity Attachment  •  Month 1, Week 1</a:t>
            </a:r>
            <a:endParaRPr lang="en-US" sz="900" dirty="0"/>
          </a:p>
        </p:txBody>
      </p:sp>
      <p:sp>
        <p:nvSpPr>
          <p:cNvPr id="4" name="Text 3"/>
          <p:cNvSpPr/>
          <p:nvPr/>
        </p:nvSpPr>
        <p:spPr>
          <a:xfrm>
            <a:off x="9326880" y="65288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F1FB"/>
                </a:solidFill>
              </a:rPr>
              <a:t>Service Scan — Findings (2/2)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A4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-sV -sC -Pn 192.168.56.102   |   continued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7548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Port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9D6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Service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9D6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Version / Detail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9D6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Risk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9D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AF1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514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AF1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shell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3A4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Netkit rshd — unauthenticated remote shell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255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AF1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1099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AF1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java-rmi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3A4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GNU Classpath grmiregistry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Medium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AF1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1524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AF1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bindshell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3A4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Metasploitable root shell — open backdoor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255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AF1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2049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AF1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nfs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3A4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NFS 2-4 (RPC #100003)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Medium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AF1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2121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AF1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3A4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ProFTPD 1.3.1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Medium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AF1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3306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AF1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mysql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3A4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MySQL 5.0.51a-3ubuntu5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Medium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AF1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5432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AF1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3A4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DB 8.3.0 - 8.3.7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Medium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AF1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5900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AF1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vnc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3A4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VNC (protocol 3.3) — weak auth scheme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255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AF1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AF1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3A4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 denied on probe, service still exposed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Medium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AF1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6667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AF1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3A4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UnrealIRCd — historically backdoored versions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255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AF1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8009 / 8180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AF1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ajp13 / http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3A4C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Apache Tomcat/Coyote JSP engine 1.1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Medium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KEDESH EDITS  |  SIWES Cybersecurity Attachment  •  Month 1, Week 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9326880" y="65288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F1FB"/>
                </a:solidFill>
              </a:rPr>
              <a:t>Highest-Risk Observations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A4C3"/>
                </a:solidFill>
              </a:rPr>
              <a:t>What stands out most from this week's scan — worth prioritizing in Week 2's vulnerability scan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121B2E"/>
          </a:solidFill>
          <a:ln w="12700">
            <a:solidFill>
              <a:srgbClr val="F255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F2555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282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70992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vsftpd 2.3.4 (port 21)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A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exact version shipped with a known backdoor (CVE-2011-2523) in some distributions and also permits anonymous login here — a prime candidate for Week 3's exploitation exercise.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121B2E"/>
          </a:solidFill>
          <a:ln w="12700">
            <a:solidFill>
              <a:srgbClr val="F255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7373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F2555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7282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49440" y="170992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1524 — bindshell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286000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A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open root shell with no authentication. If this is reachable, it's effectively full compromise with zero exploitation effort.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121B2E"/>
          </a:solidFill>
          <a:ln w="12700">
            <a:solidFill>
              <a:srgbClr val="F255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976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F2555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885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27024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Telnet &amp; rsh/rlogin (23, 512-514)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4846320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A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unencrypted, legacy remote-access protocols. Credentials and session data travel in plain text.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06908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121B2E"/>
          </a:solidFill>
          <a:ln w="12700">
            <a:solidFill>
              <a:srgbClr val="F255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2976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F255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2885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427024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UnrealIRCd (port 6667)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4846320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A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historically backdoored IRC daemon version — commonly used to demonstrate command execution in training labs.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KEDESH EDITS  |  SIWES Cybersecurity Attachment  •  Month 1, Week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26880" y="65288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1FB"/>
                </a:solidFill>
              </a:rPr>
              <a:t>Week 1 Deliverable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121B2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4630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37360" y="15087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topology diagram + Nmap scan report listing all discovered hosts, open ports, and services.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9D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 TO Week1/ FOLDER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28016" cy="128016"/>
          </a:xfrm>
          <a:prstGeom prst="ellipse">
            <a:avLst/>
          </a:prstGeom>
          <a:solidFill>
            <a:srgbClr val="39D6C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3697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discovery scan output — nmap -sn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21608"/>
            <a:ext cx="128016" cy="128016"/>
          </a:xfrm>
          <a:prstGeom prst="ellipse">
            <a:avLst/>
          </a:prstGeom>
          <a:solidFill>
            <a:srgbClr val="39D6C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62102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Service/version scan output — nmap -sV -sC -Pn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105656"/>
            <a:ext cx="128016" cy="128016"/>
          </a:xfrm>
          <a:prstGeom prst="ellipse">
            <a:avLst/>
          </a:prstGeom>
          <a:solidFill>
            <a:srgbClr val="39D6C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0050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topology diagram (exported as PDF/PNG)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75120" y="2880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— WEEK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32461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3A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Scanning with OpenVAS/Nessus — rank the top 10 findings by CVSS severity and draft remediation recommendations for each.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93776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C142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074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MOVING 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534924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Re-confirm the Metasploitable2 static IP (192.168.56.20) so future weeks aren't tracking a moving target, and verify what 192.168.56.100 is before this diagram is submitted as final.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KEDESH EDITS  |  SIWES Cybersecurity Attachment  •  Month 1, Week 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326880" y="65288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1004</Words>
  <Application>Microsoft Office PowerPoint</Application>
  <PresentationFormat>Widescreen</PresentationFormat>
  <Paragraphs>216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prince kevin edwin</cp:lastModifiedBy>
  <cp:revision>1</cp:revision>
  <dcterms:created xsi:type="dcterms:W3CDTF">2026-08-11T00:46:00Z</dcterms:created>
  <dcterms:modified xsi:type="dcterms:W3CDTF">2026-08-20T02:52:28Z</dcterms:modified>
</cp:coreProperties>
</file>